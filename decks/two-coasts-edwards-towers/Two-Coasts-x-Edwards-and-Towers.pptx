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5143500" cy="91440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384048"/>
            <a:ext cx="3589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PROPOSAL · SEPTEMBER 2026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000500" y="384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6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27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686800"/>
            <a:ext cx="43205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Coasts × Edwards and Towers · Private &amp; Confidential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3131820" y="-1463040"/>
            <a:ext cx="3840480" cy="3840480"/>
          </a:xfrm>
          <a:prstGeom prst="ellipse">
            <a:avLst/>
          </a:prstGeom>
          <a:ln w="15875">
            <a:solidFill>
              <a:srgbClr val="B8963E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645920" y="6035040"/>
            <a:ext cx="4206240" cy="4206240"/>
          </a:xfrm>
          <a:prstGeom prst="ellipse">
            <a:avLst/>
          </a:prstGeom>
          <a:ln w="15875">
            <a:solidFill>
              <a:srgbClr val="B8963E">
                <a:alpha val="45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1554480"/>
            <a:ext cx="4320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E6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COASTS  ×  EDWARDS AND TOWERS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2011680"/>
            <a:ext cx="4320540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markets.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distribution advantage.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3625596"/>
            <a:ext cx="40462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verified Phuket inventory and transaction desk for Edwards and Towers’ global network.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11480" y="5989320"/>
            <a:ext cx="548640" cy="0"/>
          </a:xfrm>
          <a:prstGeom prst="line">
            <a:avLst/>
          </a:prstGeom>
          <a:noFill/>
          <a:ln w="19050">
            <a:solidFill>
              <a:srgbClr val="B8963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1480" y="6126480"/>
            <a:ext cx="43205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Alex Whayman for Mark Towers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Director, Edwards and Towers, Dubai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" y="7680960"/>
            <a:ext cx="43205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CONFIDENTIAL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384048"/>
            <a:ext cx="3589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000500" y="384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27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686800"/>
            <a:ext cx="43205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Coasts × Edwards and Towers · Private &amp; Confidential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868680"/>
            <a:ext cx="4320540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partnership closes a specific market gap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1740408"/>
            <a:ext cx="4320540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Edwards and Towers owns reach. Two Coasts owns verified supply and local execution.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2340864"/>
            <a:ext cx="4320540" cy="1283017"/>
          </a:xfrm>
          <a:prstGeom prst="roundRect">
            <a:avLst>
              <a:gd name="adj" fmla="val 5702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" y="2487168"/>
            <a:ext cx="3991356" cy="383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F7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76072" y="2851912"/>
            <a:ext cx="3991356" cy="237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projects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76072" y="3071051"/>
            <a:ext cx="3991356" cy="388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Tenure, pricing and measurement traced to source documents.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3751898"/>
            <a:ext cx="4320540" cy="1116330"/>
          </a:xfrm>
          <a:prstGeom prst="roundRect">
            <a:avLst>
              <a:gd name="adj" fmla="val 6553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6072" y="3898202"/>
            <a:ext cx="3991356" cy="383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F7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GCC + global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76072" y="4262946"/>
            <a:ext cx="3991356" cy="237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reach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76072" y="4482084"/>
            <a:ext cx="3991356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trusted luxury audience ready for Phuket product.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4996244"/>
            <a:ext cx="4320540" cy="1116330"/>
          </a:xfrm>
          <a:prstGeom prst="roundRect">
            <a:avLst>
              <a:gd name="adj" fmla="val 6553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6072" y="5142548"/>
            <a:ext cx="3991356" cy="383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F7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76072" y="5507291"/>
            <a:ext cx="3991356" cy="237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lines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76072" y="5726430"/>
            <a:ext cx="3991356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leasing and specialist investor mandates.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6240589"/>
            <a:ext cx="4320540" cy="966216"/>
          </a:xfrm>
          <a:prstGeom prst="roundRect">
            <a:avLst>
              <a:gd name="adj" fmla="val 7571"/>
            </a:avLst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6423470"/>
            <a:ext cx="39547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6624637"/>
            <a:ext cx="3954780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product line for Edwards and Towers, with no Thailand-side buildout.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384048"/>
            <a:ext cx="3589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EXECUTION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000500" y="384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27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686800"/>
            <a:ext cx="43205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Coasts × Edwards and Towers · Private &amp; Confidential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868680"/>
            <a:ext cx="4320540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platform already operates at scale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1740408"/>
            <a:ext cx="4320540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inventory and comparable pricing, not a future roadmap.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2340864"/>
            <a:ext cx="4320540" cy="1116330"/>
          </a:xfrm>
          <a:prstGeom prst="roundRect">
            <a:avLst>
              <a:gd name="adj" fmla="val 6553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" y="2487168"/>
            <a:ext cx="3991356" cy="383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F7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76072" y="2851912"/>
            <a:ext cx="3991356" cy="237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projects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76072" y="3071051"/>
            <a:ext cx="3991356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15 Phuket areas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3585210"/>
            <a:ext cx="4320540" cy="894778"/>
          </a:xfrm>
          <a:prstGeom prst="roundRect">
            <a:avLst>
              <a:gd name="adj" fmla="val 8175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6072" y="3731514"/>
            <a:ext cx="3991356" cy="383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F7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2,001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76072" y="4096258"/>
            <a:ext cx="3991356" cy="237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Resale units tracked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4608005"/>
            <a:ext cx="4320540" cy="894778"/>
          </a:xfrm>
          <a:prstGeom prst="roundRect">
            <a:avLst>
              <a:gd name="adj" fmla="val 8175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76072" y="4754309"/>
            <a:ext cx="3991356" cy="383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F7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998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76072" y="5119052"/>
            <a:ext cx="3991356" cy="237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sellers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1480" y="5630799"/>
            <a:ext cx="4320540" cy="894778"/>
          </a:xfrm>
          <a:prstGeom prst="roundRect">
            <a:avLst>
              <a:gd name="adj" fmla="val 8175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6072" y="5777103"/>
            <a:ext cx="3991356" cy="383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F7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76072" y="6141847"/>
            <a:ext cx="3991356" cy="237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relationships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-1371600" y="7589520"/>
            <a:ext cx="3108960" cy="3108960"/>
          </a:xfrm>
          <a:prstGeom prst="ellipse">
            <a:avLst/>
          </a:prstGeom>
          <a:ln w="15875">
            <a:solidFill>
              <a:srgbClr val="B8963E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384048"/>
            <a:ext cx="3589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EXECUTION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000500" y="384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6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27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686800"/>
            <a:ext cx="43205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Coasts × Edwards and Towers · Private &amp; Confidential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3680460" y="-1097280"/>
            <a:ext cx="2926080" cy="2926080"/>
          </a:xfrm>
          <a:prstGeom prst="ellipse">
            <a:avLst/>
          </a:prstGeom>
          <a:ln w="15875">
            <a:solidFill>
              <a:srgbClr val="B8963E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3523742"/>
            <a:ext cx="548640" cy="0"/>
          </a:xfrm>
          <a:prstGeom prst="line">
            <a:avLst/>
          </a:prstGeom>
          <a:noFill/>
          <a:ln w="19050">
            <a:solidFill>
              <a:srgbClr val="B8963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3688334"/>
            <a:ext cx="4320540" cy="599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&gt;US$400K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4288282"/>
            <a:ext cx="4320540" cy="261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4549521"/>
            <a:ext cx="4320540" cy="229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agreed transaction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384048"/>
            <a:ext cx="3589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EVIDENCE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000500" y="384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27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686800"/>
            <a:ext cx="43205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Coasts × Edwards and Towers · Private &amp; Confidential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868680"/>
            <a:ext cx="43205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Phuket has depth, growth and global demand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2112264"/>
            <a:ext cx="4320540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can support a dedicated GCC distribution lane.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2712720"/>
            <a:ext cx="4320540" cy="1116330"/>
          </a:xfrm>
          <a:prstGeom prst="roundRect">
            <a:avLst>
              <a:gd name="adj" fmla="val 6553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" y="2859024"/>
            <a:ext cx="3991356" cy="383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F7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THB 45bn+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76072" y="3223768"/>
            <a:ext cx="3991356" cy="237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2025 residential sales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76072" y="3442907"/>
            <a:ext cx="3991356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 foreign buyers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3957066"/>
            <a:ext cx="4320540" cy="1116330"/>
          </a:xfrm>
          <a:prstGeom prst="roundRect">
            <a:avLst>
              <a:gd name="adj" fmla="val 6553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6072" y="4103370"/>
            <a:ext cx="3991356" cy="383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F7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+34.9%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76072" y="4468114"/>
            <a:ext cx="3991356" cy="237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 condo transfer value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76072" y="4687253"/>
            <a:ext cx="3991356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Thai province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5201412"/>
            <a:ext cx="4320540" cy="1116330"/>
          </a:xfrm>
          <a:prstGeom prst="roundRect">
            <a:avLst>
              <a:gd name="adj" fmla="val 6553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6072" y="5347716"/>
            <a:ext cx="3991356" cy="383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F7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62%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76072" y="5712460"/>
            <a:ext cx="3991356" cy="237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 pre-sale absorption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76072" y="5931599"/>
            <a:ext cx="3991356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90 days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6445758"/>
            <a:ext cx="4320540" cy="1116330"/>
          </a:xfrm>
          <a:prstGeom prst="roundRect">
            <a:avLst>
              <a:gd name="adj" fmla="val 6553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6072" y="6592062"/>
            <a:ext cx="3991356" cy="383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F7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17.4m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76072" y="6956806"/>
            <a:ext cx="3991356" cy="237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airport passengers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76072" y="7175944"/>
            <a:ext cx="3991356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 international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384048"/>
            <a:ext cx="3589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EVIDENCE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000500" y="384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6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27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686800"/>
            <a:ext cx="43205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Coasts × Edwards and Towers · Private &amp; Confidential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-1280160" y="6766560"/>
            <a:ext cx="3291840" cy="3291840"/>
          </a:xfrm>
          <a:prstGeom prst="ellipse">
            <a:avLst/>
          </a:prstGeom>
          <a:ln w="15875">
            <a:solidFill>
              <a:srgbClr val="B8963E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80460" y="-1097280"/>
            <a:ext cx="2926080" cy="2926080"/>
          </a:xfrm>
          <a:prstGeom prst="ellipse">
            <a:avLst/>
          </a:prstGeom>
          <a:ln w="15875">
            <a:solidFill>
              <a:srgbClr val="B8963E">
                <a:alpha val="45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3253994"/>
            <a:ext cx="4320540" cy="2087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Phuket now sits with Dubai and Miami among global branded-residence capitals.</a:t>
            </a:r>
            <a:endParaRPr 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384048"/>
            <a:ext cx="3589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FIT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000500" y="384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27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686800"/>
            <a:ext cx="43205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Coasts × Edwards and Towers · Private &amp; Confidential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868680"/>
            <a:ext cx="4320540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Phuket diversifies a Dubai-led client base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1740408"/>
            <a:ext cx="4320540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coast adds a cycle hedge, not a substitute.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2150364"/>
            <a:ext cx="43205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GULF DEMAND IN PHUKET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11480" y="2424684"/>
            <a:ext cx="4320540" cy="1116330"/>
          </a:xfrm>
          <a:prstGeom prst="roundRect">
            <a:avLst>
              <a:gd name="adj" fmla="val 6553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76072" y="2570988"/>
            <a:ext cx="3991356" cy="383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F7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~10%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76072" y="2935732"/>
            <a:ext cx="3991356" cy="237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Phuket off-plan sales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76072" y="3154871"/>
            <a:ext cx="3991356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Gulf capital in 2024, and rising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3669030"/>
            <a:ext cx="4320540" cy="1116330"/>
          </a:xfrm>
          <a:prstGeom prst="roundRect">
            <a:avLst>
              <a:gd name="adj" fmla="val 6553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6072" y="3815334"/>
            <a:ext cx="3991356" cy="383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F7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+28%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76072" y="4180078"/>
            <a:ext cx="3991356" cy="237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arrivals to Thailand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76072" y="4399217"/>
            <a:ext cx="3991356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-1371600" y="7589520"/>
            <a:ext cx="3108960" cy="3108960"/>
          </a:xfrm>
          <a:prstGeom prst="ellipse">
            <a:avLst/>
          </a:prstGeom>
          <a:ln w="15875">
            <a:solidFill>
              <a:srgbClr val="B8963E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384048"/>
            <a:ext cx="3589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FIT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000500" y="384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27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686800"/>
            <a:ext cx="43205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Coasts × Edwards and Towers · Private &amp; Confidential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868680"/>
            <a:ext cx="43205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Dubai market context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368552"/>
            <a:ext cx="4320540" cy="1116330"/>
          </a:xfrm>
          <a:prstGeom prst="roundRect">
            <a:avLst>
              <a:gd name="adj" fmla="val 6553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6072" y="1514856"/>
            <a:ext cx="3991356" cy="383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F7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AED 917bn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76072" y="1879600"/>
            <a:ext cx="3991356" cy="237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transaction value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76072" y="2098738"/>
            <a:ext cx="3991356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mature, high-volume distribution machine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612898"/>
            <a:ext cx="4320540" cy="1116330"/>
          </a:xfrm>
          <a:prstGeom prst="roundRect">
            <a:avLst>
              <a:gd name="adj" fmla="val 6553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6072" y="2759202"/>
            <a:ext cx="3991356" cy="383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F7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–4% to –10%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76072" y="3123946"/>
            <a:ext cx="3991356" cy="237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correction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76072" y="3343084"/>
            <a:ext cx="3991356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late-February 2026 peak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-1371600" y="7589520"/>
            <a:ext cx="3108960" cy="3108960"/>
          </a:xfrm>
          <a:prstGeom prst="ellipse">
            <a:avLst/>
          </a:prstGeom>
          <a:ln w="15875">
            <a:solidFill>
              <a:srgbClr val="B8963E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384048"/>
            <a:ext cx="3589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000500" y="384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27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686800"/>
            <a:ext cx="43205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Coasts × Edwards and Towers · Private &amp; Confidential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868680"/>
            <a:ext cx="4320540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Transactions fund the data moat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1740408"/>
            <a:ext cx="4320540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verifies inventory; the desk monetises it.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2340864"/>
            <a:ext cx="43205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F7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2523744"/>
            <a:ext cx="4320540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files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842260"/>
            <a:ext cx="4320540" cy="0"/>
          </a:xfrm>
          <a:prstGeom prst="line">
            <a:avLst/>
          </a:prstGeom>
          <a:noFill/>
          <a:ln w="9525">
            <a:solidFill>
              <a:srgbClr val="D9D2C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" y="3006852"/>
            <a:ext cx="43205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F7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411480" y="3189732"/>
            <a:ext cx="4320540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· size · tenure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508248"/>
            <a:ext cx="4320540" cy="0"/>
          </a:xfrm>
          <a:prstGeom prst="line">
            <a:avLst/>
          </a:prstGeom>
          <a:noFill/>
          <a:ln w="9525">
            <a:solidFill>
              <a:srgbClr val="D9D2C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" y="3672840"/>
            <a:ext cx="43205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F7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11480" y="3855720"/>
            <a:ext cx="4320540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 buyer attribution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4174236"/>
            <a:ext cx="4320540" cy="0"/>
          </a:xfrm>
          <a:prstGeom prst="line">
            <a:avLst/>
          </a:prstGeom>
          <a:noFill/>
          <a:ln w="9525">
            <a:solidFill>
              <a:srgbClr val="D9D2C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1480" y="4338828"/>
            <a:ext cx="43205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F7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4521708"/>
            <a:ext cx="4320540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transaction desk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4840224"/>
            <a:ext cx="4320540" cy="0"/>
          </a:xfrm>
          <a:prstGeom prst="line">
            <a:avLst/>
          </a:prstGeom>
          <a:noFill/>
          <a:ln w="9525">
            <a:solidFill>
              <a:srgbClr val="D9D2C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-1371600" y="7589520"/>
            <a:ext cx="3108960" cy="3108960"/>
          </a:xfrm>
          <a:prstGeom prst="ellipse">
            <a:avLst/>
          </a:prstGeom>
          <a:ln w="15875">
            <a:solidFill>
              <a:srgbClr val="B8963E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384048"/>
            <a:ext cx="3589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000500" y="384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27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686800"/>
            <a:ext cx="43205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Coasts × Edwards and Towers · Private &amp; Confidential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868680"/>
            <a:ext cx="43205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revenue lines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368552"/>
            <a:ext cx="420624" cy="420624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1368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1350264"/>
            <a:ext cx="3717036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008632"/>
            <a:ext cx="420624" cy="420624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" y="2008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14984" y="1990344"/>
            <a:ext cx="3717036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letting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14984" y="2199132"/>
            <a:ext cx="3717036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658428"/>
            <a:ext cx="420624" cy="420624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26584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14984" y="2640140"/>
            <a:ext cx="3717036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short-let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14984" y="2848928"/>
            <a:ext cx="3717036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3308223"/>
            <a:ext cx="420624" cy="420624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1480" y="330822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14984" y="3289935"/>
            <a:ext cx="3717036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mandates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3948303"/>
            <a:ext cx="420624" cy="420624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11480" y="394830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014984" y="3930015"/>
            <a:ext cx="3717036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Investor-incentives desk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-1371600" y="7589520"/>
            <a:ext cx="3108960" cy="3108960"/>
          </a:xfrm>
          <a:prstGeom prst="ellipse">
            <a:avLst/>
          </a:prstGeom>
          <a:ln w="15875">
            <a:solidFill>
              <a:srgbClr val="B8963E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384048"/>
            <a:ext cx="3589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000500" y="384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27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686800"/>
            <a:ext cx="43205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Coasts × Edwards and Towers · Private &amp; Confidential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868680"/>
            <a:ext cx="43205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revenue lines create multiple ways to win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2112264"/>
            <a:ext cx="4320540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sales; add recurring and specialist income as the channel proves itself.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2712720"/>
            <a:ext cx="420624" cy="420624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2712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14984" y="2694432"/>
            <a:ext cx="3717036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14984" y="2903220"/>
            <a:ext cx="3717036" cy="388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off-plan, primary and resale · immediate pipeline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3529203"/>
            <a:ext cx="420624" cy="420624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1480" y="352920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" y="3510915"/>
            <a:ext cx="3717036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letting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14984" y="3719703"/>
            <a:ext cx="3717036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of gross rent · recurring income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4178999"/>
            <a:ext cx="420624" cy="420624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1480" y="4178999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14984" y="4160711"/>
            <a:ext cx="3717036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short-let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14984" y="4369499"/>
            <a:ext cx="3717036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of gross rent · lawful operator-led delivery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4828794"/>
            <a:ext cx="420624" cy="420624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1480" y="482879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14984" y="4810506"/>
            <a:ext cx="3717036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+ incentives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14984" y="5019294"/>
            <a:ext cx="3717036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fees · specialist investor access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11480" y="5478590"/>
            <a:ext cx="4320540" cy="388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proves the channel. Recurring services compound its value.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-1371600" y="7589520"/>
            <a:ext cx="3108960" cy="3108960"/>
          </a:xfrm>
          <a:prstGeom prst="ellipse">
            <a:avLst/>
          </a:prstGeom>
          <a:ln w="15875">
            <a:solidFill>
              <a:srgbClr val="B8963E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384048"/>
            <a:ext cx="3589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PROTECTION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000500" y="384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27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686800"/>
            <a:ext cx="43205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Coasts × Edwards and Towers · Private &amp; Confidential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868680"/>
            <a:ext cx="4320540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Lawful routes protect buyer confidence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1740408"/>
            <a:ext cx="4320540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buyer and asset is matched to a defensible structure.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2340864"/>
            <a:ext cx="420624" cy="420624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23408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14984" y="2322576"/>
            <a:ext cx="3717036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freehold condo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14984" y="2531364"/>
            <a:ext cx="3717036" cy="388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in the buyer’s name · verify the 49% project quota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3157347"/>
            <a:ext cx="420624" cy="420624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1480" y="3157347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" y="3139059"/>
            <a:ext cx="3717036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30-year lease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14984" y="3347847"/>
            <a:ext cx="3717036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enforceable term · price on 30 years only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3807143"/>
            <a:ext cx="420624" cy="420624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1480" y="380714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14984" y="3788855"/>
            <a:ext cx="3717036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BOI-promoted company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14984" y="3997643"/>
            <a:ext cx="3717036" cy="388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foreign ownership · genuine promoted activity required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11480" y="4623626"/>
            <a:ext cx="4320540" cy="388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 counsel confirms each structure before commitment.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Superficies and usufruct remain case-specific.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-1371600" y="7589520"/>
            <a:ext cx="3108960" cy="3108960"/>
          </a:xfrm>
          <a:prstGeom prst="ellipse">
            <a:avLst/>
          </a:prstGeom>
          <a:ln w="15875">
            <a:solidFill>
              <a:srgbClr val="B8963E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384048"/>
            <a:ext cx="3589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LARGE-INVESTOR DESK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000500" y="384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27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686800"/>
            <a:ext cx="43205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Coasts × Edwards and Towers · Private &amp; Confidential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868680"/>
            <a:ext cx="43205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BOI turns qualifying assets into investable structures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2112264"/>
            <a:ext cx="4320540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hotels, branded hospitality and wellness, not residential-for-sale.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2712720"/>
            <a:ext cx="4320540" cy="894778"/>
          </a:xfrm>
          <a:prstGeom prst="roundRect">
            <a:avLst>
              <a:gd name="adj" fmla="val 8175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" y="2859024"/>
            <a:ext cx="3991356" cy="383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F7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76072" y="3223768"/>
            <a:ext cx="3991356" cy="237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ownership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" y="3735515"/>
            <a:ext cx="4320540" cy="894778"/>
          </a:xfrm>
          <a:prstGeom prst="roundRect">
            <a:avLst>
              <a:gd name="adj" fmla="val 8175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6072" y="3881819"/>
            <a:ext cx="3991356" cy="383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F7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s.27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76072" y="4246562"/>
            <a:ext cx="3991356" cy="237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land rights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4758309"/>
            <a:ext cx="4320540" cy="1116330"/>
          </a:xfrm>
          <a:prstGeom prst="roundRect">
            <a:avLst>
              <a:gd name="adj" fmla="val 6553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6072" y="4904613"/>
            <a:ext cx="3991356" cy="383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F7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3–13 yrs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76072" y="5269357"/>
            <a:ext cx="3991356" cy="237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 exemption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76072" y="5488496"/>
            <a:ext cx="3991356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activity group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-1371600" y="7589520"/>
            <a:ext cx="3108960" cy="3108960"/>
          </a:xfrm>
          <a:prstGeom prst="ellipse">
            <a:avLst/>
          </a:prstGeom>
          <a:ln w="15875">
            <a:solidFill>
              <a:srgbClr val="B8963E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384048"/>
            <a:ext cx="3589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LARGE-INVESTOR DESK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000500" y="384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27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686800"/>
            <a:ext cx="43205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Coasts × Edwards and Towers · Private &amp; Confidential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868680"/>
            <a:ext cx="43205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Hotel entry thresholds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368552"/>
            <a:ext cx="420624" cy="420624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1368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1350264"/>
            <a:ext cx="3717036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rooms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14984" y="1559052"/>
            <a:ext cx="3717036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THB 2m per room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018347"/>
            <a:ext cx="420624" cy="420624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1480" y="2018347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14984" y="2000059"/>
            <a:ext cx="3717036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than 100 rooms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" y="2208848"/>
            <a:ext cx="3717036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THB 500m total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-1371600" y="7589520"/>
            <a:ext cx="3108960" cy="3108960"/>
          </a:xfrm>
          <a:prstGeom prst="ellipse">
            <a:avLst/>
          </a:prstGeom>
          <a:ln w="15875">
            <a:solidFill>
              <a:srgbClr val="B8963E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384048"/>
            <a:ext cx="3589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 ECONOMICS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000500" y="384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27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686800"/>
            <a:ext cx="43205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Coasts × Edwards and Towers · Private &amp; Confidential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868680"/>
            <a:ext cx="4320540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pays for reach and execution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1740408"/>
            <a:ext cx="4320540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becomes recurring venture income.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2150364"/>
            <a:ext cx="4320540" cy="1116330"/>
          </a:xfrm>
          <a:prstGeom prst="roundRect">
            <a:avLst>
              <a:gd name="adj" fmla="val 6553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" y="2296668"/>
            <a:ext cx="3991356" cy="383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F7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AED 200k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76072" y="2661412"/>
            <a:ext cx="3991356" cy="237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contribution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76072" y="2880551"/>
            <a:ext cx="3991356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in full on signing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3394710"/>
            <a:ext cx="4320540" cy="1116330"/>
          </a:xfrm>
          <a:prstGeom prst="roundRect">
            <a:avLst>
              <a:gd name="adj" fmla="val 6553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6072" y="3541014"/>
            <a:ext cx="3991356" cy="383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F7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AED 30k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76072" y="3905758"/>
            <a:ext cx="3991356" cy="237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operator pay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76072" y="4124897"/>
            <a:ext cx="3991356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 operating cost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4639056"/>
            <a:ext cx="4320540" cy="1116330"/>
          </a:xfrm>
          <a:prstGeom prst="roundRect">
            <a:avLst>
              <a:gd name="adj" fmla="val 6553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6072" y="4785360"/>
            <a:ext cx="3991356" cy="383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F7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 / 25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76072" y="5150104"/>
            <a:ext cx="3991356" cy="237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/ Mark equity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76072" y="5369242"/>
            <a:ext cx="3991356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/ 15 if support falls short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5883402"/>
            <a:ext cx="4320540" cy="1116330"/>
          </a:xfrm>
          <a:prstGeom prst="roundRect">
            <a:avLst>
              <a:gd name="adj" fmla="val 6553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6072" y="6029706"/>
            <a:ext cx="3991356" cy="383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F7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/ 50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76072" y="6394450"/>
            <a:ext cx="3991356" cy="237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E&amp;T-originated deals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76072" y="6613588"/>
            <a:ext cx="3991356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 attribution controls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-1371600" y="7589520"/>
            <a:ext cx="3108960" cy="3108960"/>
          </a:xfrm>
          <a:prstGeom prst="ellipse">
            <a:avLst/>
          </a:prstGeom>
          <a:ln w="15875">
            <a:solidFill>
              <a:srgbClr val="B8963E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384048"/>
            <a:ext cx="3589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 ECONOMICS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000500" y="384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6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27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686800"/>
            <a:ext cx="43205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Coasts × Edwards and Towers · Private &amp; Confidential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3680460" y="-1097280"/>
            <a:ext cx="2926080" cy="2926080"/>
          </a:xfrm>
          <a:prstGeom prst="ellipse">
            <a:avLst/>
          </a:prstGeom>
          <a:ln w="15875">
            <a:solidFill>
              <a:srgbClr val="B8963E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3523742"/>
            <a:ext cx="548640" cy="0"/>
          </a:xfrm>
          <a:prstGeom prst="line">
            <a:avLst/>
          </a:prstGeom>
          <a:noFill/>
          <a:ln w="19050">
            <a:solidFill>
              <a:srgbClr val="B8963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3688334"/>
            <a:ext cx="4320540" cy="599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closings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4288282"/>
            <a:ext cx="4320540" cy="261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~THB 7.2m / AED 735k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4549521"/>
            <a:ext cx="4320540" cy="229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commission before costs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384048"/>
            <a:ext cx="3589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STRATEGY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000500" y="384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27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686800"/>
            <a:ext cx="43205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Coasts × Edwards and Towers · Private &amp; Confidential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868680"/>
            <a:ext cx="43205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Ground-floor access matters more than prestige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2112264"/>
            <a:ext cx="4320540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120 sqm office must earn its premium through qualified traffic.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2712720"/>
            <a:ext cx="43205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CORRIDOR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11480" y="2987040"/>
            <a:ext cx="4320540" cy="1116330"/>
          </a:xfrm>
          <a:prstGeom prst="roundRect">
            <a:avLst>
              <a:gd name="adj" fmla="val 6553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76072" y="3133344"/>
            <a:ext cx="3991356" cy="383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F7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Boat / Porto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76072" y="3498088"/>
            <a:ext cx="3991356" cy="237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floor · 100–150 sqm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76072" y="3717227"/>
            <a:ext cx="3991356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THB 165k rent + service / month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11480" y="4304538"/>
            <a:ext cx="43205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FALLBACK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1480" y="4578858"/>
            <a:ext cx="4320540" cy="1116330"/>
          </a:xfrm>
          <a:prstGeom prst="roundRect">
            <a:avLst>
              <a:gd name="adj" fmla="val 6553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6072" y="4725162"/>
            <a:ext cx="3991356" cy="383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F7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 Tree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76072" y="5089906"/>
            <a:ext cx="3991356" cy="237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if access is weak or the cap is exceeded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76072" y="5309045"/>
            <a:ext cx="3991356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THB 180k maximum all-in occupancy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-1371600" y="7589520"/>
            <a:ext cx="3108960" cy="3108960"/>
          </a:xfrm>
          <a:prstGeom prst="ellipse">
            <a:avLst/>
          </a:prstGeom>
          <a:ln w="15875">
            <a:solidFill>
              <a:srgbClr val="B8963E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384048"/>
            <a:ext cx="3589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STRATEGY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000500" y="384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27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686800"/>
            <a:ext cx="43205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Coasts × Edwards and Towers · Private &amp; Confidential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868680"/>
            <a:ext cx="43205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lease without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368552"/>
            <a:ext cx="420624" cy="420624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1368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1350264"/>
            <a:ext cx="3717036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signage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008632"/>
            <a:ext cx="420624" cy="420624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" y="2008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14984" y="1990344"/>
            <a:ext cx="3717036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parking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648712"/>
            <a:ext cx="420624" cy="420624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" y="2648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14984" y="2630424"/>
            <a:ext cx="3717036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footfall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288792"/>
            <a:ext cx="420624" cy="420624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1480" y="3288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14984" y="3270504"/>
            <a:ext cx="3717036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proposals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-1371600" y="7589520"/>
            <a:ext cx="3108960" cy="3108960"/>
          </a:xfrm>
          <a:prstGeom prst="ellipse">
            <a:avLst/>
          </a:prstGeom>
          <a:ln w="15875">
            <a:solidFill>
              <a:srgbClr val="B8963E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384048"/>
            <a:ext cx="3589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CASE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000500" y="384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27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686800"/>
            <a:ext cx="43205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Coasts × Edwards and Towers · Private &amp; Confidential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868680"/>
            <a:ext cx="4320540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office runs at THB 618k per month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1740408"/>
            <a:ext cx="4320540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local staff plus a premium ground-floor location.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2340864"/>
            <a:ext cx="4320540" cy="1116330"/>
          </a:xfrm>
          <a:prstGeom prst="roundRect">
            <a:avLst>
              <a:gd name="adj" fmla="val 6553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" y="2487168"/>
            <a:ext cx="3991356" cy="383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F7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THB 283k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76072" y="2851912"/>
            <a:ext cx="3991356" cy="237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cost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76072" y="3071051"/>
            <a:ext cx="3991356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sales + four support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3585210"/>
            <a:ext cx="4320540" cy="1116330"/>
          </a:xfrm>
          <a:prstGeom prst="roundRect">
            <a:avLst>
              <a:gd name="adj" fmla="val 6553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6072" y="3731514"/>
            <a:ext cx="3991356" cy="383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F7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THB 165k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76072" y="4096258"/>
            <a:ext cx="3991356" cy="237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target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76072" y="4315397"/>
            <a:ext cx="3991356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+ service charges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4829556"/>
            <a:ext cx="4320540" cy="1116330"/>
          </a:xfrm>
          <a:prstGeom prst="roundRect">
            <a:avLst>
              <a:gd name="adj" fmla="val 6553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6072" y="4975860"/>
            <a:ext cx="3991356" cy="383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F7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THB 130k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76072" y="5340604"/>
            <a:ext cx="3991356" cy="237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operations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76072" y="5559743"/>
            <a:ext cx="3991356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· utilities · travel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6073902"/>
            <a:ext cx="4320540" cy="1116330"/>
          </a:xfrm>
          <a:prstGeom prst="roundRect">
            <a:avLst>
              <a:gd name="adj" fmla="val 6553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6072" y="6220206"/>
            <a:ext cx="3991356" cy="383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F7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THB 40k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76072" y="6584950"/>
            <a:ext cx="3991356" cy="237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activation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76072" y="6804088"/>
            <a:ext cx="3991356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Office-led marketing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384048"/>
            <a:ext cx="3589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CASE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000500" y="384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6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27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686800"/>
            <a:ext cx="43205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Coasts × Edwards and Towers · Private &amp; Confidential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3680460" y="-1097280"/>
            <a:ext cx="2926080" cy="2926080"/>
          </a:xfrm>
          <a:prstGeom prst="ellipse">
            <a:avLst/>
          </a:prstGeom>
          <a:ln w="15875">
            <a:solidFill>
              <a:srgbClr val="B8963E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2979293"/>
            <a:ext cx="548640" cy="0"/>
          </a:xfrm>
          <a:prstGeom prst="line">
            <a:avLst/>
          </a:prstGeom>
          <a:noFill/>
          <a:ln w="19050">
            <a:solidFill>
              <a:srgbClr val="B8963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3143885"/>
            <a:ext cx="4320540" cy="599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THB 7.42m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3743833"/>
            <a:ext cx="4320540" cy="261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fixed cost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4297680"/>
            <a:ext cx="548640" cy="0"/>
          </a:xfrm>
          <a:prstGeom prst="line">
            <a:avLst/>
          </a:prstGeom>
          <a:noFill/>
          <a:ln w="19050">
            <a:solidFill>
              <a:srgbClr val="B8963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" y="4462272"/>
            <a:ext cx="4320540" cy="599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THB 8.547m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411480" y="5062220"/>
            <a:ext cx="4320540" cy="261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loaded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384048"/>
            <a:ext cx="3589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BRIDGE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000500" y="384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27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686800"/>
            <a:ext cx="43205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Coasts × Edwards and Towers · Private &amp; Confidential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868680"/>
            <a:ext cx="43205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AED 200k mobilises the venture, not the office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2112264"/>
            <a:ext cx="4320540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office remains gated until unit, lease and funding are approved.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2712720"/>
            <a:ext cx="4320540" cy="1116330"/>
          </a:xfrm>
          <a:prstGeom prst="roundRect">
            <a:avLst>
              <a:gd name="adj" fmla="val 6553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" y="2859024"/>
            <a:ext cx="3991356" cy="383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F7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AED 492k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76072" y="3223768"/>
            <a:ext cx="3991356" cy="237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cash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76072" y="3442907"/>
            <a:ext cx="3991356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+ three-month runway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3957066"/>
            <a:ext cx="4320540" cy="1116330"/>
          </a:xfrm>
          <a:prstGeom prst="roundRect">
            <a:avLst>
              <a:gd name="adj" fmla="val 6553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6072" y="4103370"/>
            <a:ext cx="3991356" cy="383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F7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AED 200k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76072" y="4468114"/>
            <a:ext cx="3991356" cy="237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contribution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76072" y="4687253"/>
            <a:ext cx="3991356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40.7% of opening cash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5201412"/>
            <a:ext cx="4320540" cy="1116330"/>
          </a:xfrm>
          <a:prstGeom prst="roundRect">
            <a:avLst>
              <a:gd name="adj" fmla="val 6553"/>
            </a:avLst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6072" y="5347716"/>
            <a:ext cx="3991356" cy="383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F7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AED 292k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76072" y="5712460"/>
            <a:ext cx="3991356" cy="237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gap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76072" y="5931599"/>
            <a:ext cx="3991356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+ timing open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-1371600" y="7589520"/>
            <a:ext cx="3108960" cy="3108960"/>
          </a:xfrm>
          <a:prstGeom prst="ellipse">
            <a:avLst/>
          </a:prstGeom>
          <a:ln w="15875">
            <a:solidFill>
              <a:srgbClr val="B8963E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384048"/>
            <a:ext cx="3589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BRIDGE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000500" y="384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6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27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686800"/>
            <a:ext cx="43205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Coasts × Edwards and Towers · Private &amp; Confidential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3680460" y="-1097280"/>
            <a:ext cx="2926080" cy="2926080"/>
          </a:xfrm>
          <a:prstGeom prst="ellipse">
            <a:avLst/>
          </a:prstGeom>
          <a:ln w="15875">
            <a:solidFill>
              <a:srgbClr val="B8963E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3523742"/>
            <a:ext cx="548640" cy="0"/>
          </a:xfrm>
          <a:prstGeom prst="line">
            <a:avLst/>
          </a:prstGeom>
          <a:noFill/>
          <a:ln w="19050">
            <a:solidFill>
              <a:srgbClr val="B8963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3688334"/>
            <a:ext cx="4320540" cy="599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B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THB 2.71m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4288282"/>
            <a:ext cx="4320540" cy="261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cash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4549521"/>
            <a:ext cx="4320540" cy="229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Fit-out · tech · signage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11480" y="5163058"/>
            <a:ext cx="4320540" cy="388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E6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additional office capital is implied without a separate written decision.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384048"/>
            <a:ext cx="3589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DESIGN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000500" y="384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27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686800"/>
            <a:ext cx="43205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Coasts × Edwards and Towers · Private &amp; Confidential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868680"/>
            <a:ext cx="43205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commercial frame aligns contribution and reward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2112264"/>
            <a:ext cx="4320540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rewards commitment; deal income follows client source.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2712720"/>
            <a:ext cx="420624" cy="420624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2712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14984" y="2694432"/>
            <a:ext cx="3717036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· 75% Alex / 25% Mark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14984" y="2903220"/>
            <a:ext cx="3717036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to 85 / 15 if support is not delivered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3362516"/>
            <a:ext cx="420624" cy="420624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1480" y="33625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" y="3344228"/>
            <a:ext cx="3717036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E&amp;T-originated · 50 / 50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14984" y="3553016"/>
            <a:ext cx="3717036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 referral registration controls attribution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4012311"/>
            <a:ext cx="420624" cy="420624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1480" y="4012311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14984" y="3994023"/>
            <a:ext cx="3717036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Alex-originated · 80 / 20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14984" y="4202811"/>
            <a:ext cx="3717036" cy="22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clients remain outside exclusivity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4662107"/>
            <a:ext cx="420624" cy="420624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1480" y="4662107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14984" y="4643819"/>
            <a:ext cx="3717036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exclusivity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14984" y="4852607"/>
            <a:ext cx="3717036" cy="388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months at US$50k+ E&amp;T fees · quarterly lapse test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-1371600" y="7589520"/>
            <a:ext cx="3108960" cy="3108960"/>
          </a:xfrm>
          <a:prstGeom prst="ellipse">
            <a:avLst/>
          </a:prstGeom>
          <a:ln w="15875">
            <a:solidFill>
              <a:srgbClr val="B8963E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384048"/>
            <a:ext cx="3589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90 DAYS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000500" y="384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27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686800"/>
            <a:ext cx="43205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Coasts × Edwards and Towers · Private &amp; Confidential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868680"/>
            <a:ext cx="43205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one verified mandate, then expand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2112264"/>
            <a:ext cx="4320540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narrow first deal creates proof for the broader relationship.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2712720"/>
            <a:ext cx="420624" cy="420624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2712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14984" y="2694432"/>
            <a:ext cx="3717036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+ set up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14984" y="2903220"/>
            <a:ext cx="3717036" cy="388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AED 200k · instruct Thai counsel · file the DTV and work plan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3529203"/>
            <a:ext cx="420624" cy="420624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1480" y="352920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" y="3510915"/>
            <a:ext cx="3717036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14984" y="3719703"/>
            <a:ext cx="3717036" cy="388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the E&amp;T campaign with dated attribution and reporting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4345686"/>
            <a:ext cx="420624" cy="420624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1480" y="434568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14984" y="4327398"/>
            <a:ext cx="3717036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+ scale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14984" y="4536186"/>
            <a:ext cx="3717036" cy="388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pipeline · add partner agencies and Dubai data scope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5162169"/>
            <a:ext cx="4320540" cy="966216"/>
          </a:xfrm>
          <a:prstGeom prst="roundRect">
            <a:avLst>
              <a:gd name="adj" fmla="val 7571"/>
            </a:avLst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5345049"/>
            <a:ext cx="39547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90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5546217"/>
            <a:ext cx="3954780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referral channel · verified project · reporting cadence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-1371600" y="7589520"/>
            <a:ext cx="3108960" cy="3108960"/>
          </a:xfrm>
          <a:prstGeom prst="ellipse">
            <a:avLst/>
          </a:prstGeom>
          <a:ln w="15875">
            <a:solidFill>
              <a:srgbClr val="B8963E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384048"/>
            <a:ext cx="3589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DISCIPLINE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000500" y="384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27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686800"/>
            <a:ext cx="43205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Coasts × Edwards and Towers · Private &amp; Confidential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868680"/>
            <a:ext cx="43205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discipline is part of the proposition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2112264"/>
            <a:ext cx="4320540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is stronger when constraints remain visible.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2522220"/>
            <a:ext cx="43205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F7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2705100"/>
            <a:ext cx="4320540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verified lawful structures enter the catalogue.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3023616"/>
            <a:ext cx="4320540" cy="0"/>
          </a:xfrm>
          <a:prstGeom prst="line">
            <a:avLst/>
          </a:prstGeom>
          <a:noFill/>
          <a:ln w="9525">
            <a:solidFill>
              <a:srgbClr val="D9D2C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" y="3188208"/>
            <a:ext cx="43205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F7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411480" y="3371088"/>
            <a:ext cx="4320540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 counsel confirms entity, work-permit and BOI files.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880104"/>
            <a:ext cx="4320540" cy="0"/>
          </a:xfrm>
          <a:prstGeom prst="line">
            <a:avLst/>
          </a:prstGeom>
          <a:noFill/>
          <a:ln w="9525">
            <a:solidFill>
              <a:srgbClr val="D9D2C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" y="4044696"/>
            <a:ext cx="43205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F7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11480" y="4227576"/>
            <a:ext cx="4320540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data flags and 36 unsigned commission files remain visible.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4736592"/>
            <a:ext cx="4320540" cy="0"/>
          </a:xfrm>
          <a:prstGeom prst="line">
            <a:avLst/>
          </a:prstGeom>
          <a:noFill/>
          <a:ln w="9525">
            <a:solidFill>
              <a:srgbClr val="D9D2C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1480" y="4901184"/>
            <a:ext cx="43205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F7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5084064"/>
            <a:ext cx="4320540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Russian, European and Gulf demand carried growth.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5402580"/>
            <a:ext cx="4320540" cy="0"/>
          </a:xfrm>
          <a:prstGeom prst="line">
            <a:avLst/>
          </a:prstGeom>
          <a:noFill/>
          <a:ln w="9525">
            <a:solidFill>
              <a:srgbClr val="D9D2C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1480" y="5567172"/>
            <a:ext cx="43205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F7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PERSON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5750052"/>
            <a:ext cx="4320540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one depends on Alex; the system is documented and scalable.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" y="6259068"/>
            <a:ext cx="4320540" cy="0"/>
          </a:xfrm>
          <a:prstGeom prst="line">
            <a:avLst/>
          </a:prstGeom>
          <a:noFill/>
          <a:ln w="9525">
            <a:solidFill>
              <a:srgbClr val="D9D2C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-1371600" y="7589520"/>
            <a:ext cx="3108960" cy="3108960"/>
          </a:xfrm>
          <a:prstGeom prst="ellipse">
            <a:avLst/>
          </a:prstGeom>
          <a:ln w="15875">
            <a:solidFill>
              <a:srgbClr val="B8963E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384048"/>
            <a:ext cx="3589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DISCIPLINE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000500" y="384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6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27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686800"/>
            <a:ext cx="43205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Coasts × Edwards and Towers · Private &amp; Confidential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-1280160" y="6766560"/>
            <a:ext cx="3291840" cy="3291840"/>
          </a:xfrm>
          <a:prstGeom prst="ellipse">
            <a:avLst/>
          </a:prstGeom>
          <a:ln w="15875">
            <a:solidFill>
              <a:srgbClr val="B8963E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80460" y="-1097280"/>
            <a:ext cx="2926080" cy="2926080"/>
          </a:xfrm>
          <a:prstGeom prst="ellipse">
            <a:avLst/>
          </a:prstGeom>
          <a:ln w="15875">
            <a:solidFill>
              <a:srgbClr val="B8963E">
                <a:alpha val="45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3253994"/>
            <a:ext cx="4320540" cy="2087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Underwrite today’s law, dated attribution and verified inventory, not launch hype.</a:t>
            </a:r>
            <a:endParaRPr lang="en-US" sz="2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384048"/>
            <a:ext cx="3589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000500" y="384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6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27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686800"/>
            <a:ext cx="43205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Coasts × Edwards and Towers · Private &amp; Confidential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3680460" y="-1097280"/>
            <a:ext cx="2926080" cy="2926080"/>
          </a:xfrm>
          <a:prstGeom prst="ellipse">
            <a:avLst/>
          </a:prstGeom>
          <a:ln w="15875">
            <a:solidFill>
              <a:srgbClr val="B8963E">
                <a:alpha val="45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868680"/>
            <a:ext cx="4320540" cy="940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together.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 the office.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1864360"/>
            <a:ext cx="4320540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Two Coasts with Edwards and Towers; release office capital only after diligence.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2464816"/>
            <a:ext cx="43205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E6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2739136"/>
            <a:ext cx="4320540" cy="451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ready now; the office proceeds only when location and funding are proven.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11480" y="3428619"/>
            <a:ext cx="43205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E6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WORKING SESSION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11480" y="3702939"/>
            <a:ext cx="420624" cy="420624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1480" y="3702939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" y="3684651"/>
            <a:ext cx="3717036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live catalogue and provenance ledger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4343019"/>
            <a:ext cx="420624" cy="420624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1480" y="4343019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14984" y="4324731"/>
            <a:ext cx="3717036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attribution, economics and reporting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4983099"/>
            <a:ext cx="420624" cy="420624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1480" y="4983099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14984" y="4964811"/>
            <a:ext cx="3717036" cy="245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three written office proposals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5623179"/>
            <a:ext cx="420624" cy="420624"/>
          </a:xfrm>
          <a:prstGeom prst="ellipse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11480" y="5623179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014984" y="5604891"/>
            <a:ext cx="371703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legal entity, funding gates and term sheet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11480" y="8275320"/>
            <a:ext cx="43205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Whayman · Two Coasts · September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Two Coasts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 Coasts × Edwards and Towers · Partnership proposal</dc:title>
  <dc:subject>PptxGenJS Presentation</dc:subject>
  <dc:creator>Alex Whayman</dc:creator>
  <cp:lastModifiedBy>Alex Whayman</cp:lastModifiedBy>
  <cp:revision>1</cp:revision>
  <dcterms:created xsi:type="dcterms:W3CDTF">2026-09-04T12:15:37Z</dcterms:created>
  <dcterms:modified xsi:type="dcterms:W3CDTF">2026-09-04T12:15:37Z</dcterms:modified>
</cp:coreProperties>
</file>